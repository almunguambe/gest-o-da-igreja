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SIGAD</a:t>
            </a:r>
          </a:p>
          <a:p>
            <a:pPr>
              <a:defRPr sz="1600">
                <a:solidFill>
                  <a:srgbClr val="D97706"/>
                </a:solidFill>
                <a:latin typeface="Arial"/>
              </a:defRPr>
            </a:pPr>
            <a:r>
              <a:t>Sistema Integrado de Gestão Eclesiástica</a:t>
            </a:r>
            <a:br/>
            <a:r>
              <a:t>Plataforma Administrativa de Padrão Nacional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Governança Institucional, Membresia e Transparência Financeira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Gestão Unificada de Liderança, Discipulado e Missão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Solução Tecnológica Segura, Moderna e Adaptada ao Contexto Nacional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1. Visão Geral &amp; Níveis de Acesso</a:t>
            </a:r>
          </a:p>
          <a:p>
            <a:pPr>
              <a:defRPr sz="1600">
                <a:solidFill>
                  <a:srgbClr val="D97706"/>
                </a:solidFill>
                <a:latin typeface="Arial"/>
              </a:defRPr>
            </a:pPr>
            <a:r>
              <a:t>Controlo rigoroso com separação clara de responsabilidades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SuperAdmin Nacional / Provincial: Visão estatística consolidada de todas as congregações.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Pastor Presidente / Liderança Local: Painel executivo, aprovação pastoral e direção estratégica.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Secretaria Geral: Gestão de fichas de membros, departamentos, células e credenciais.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Tesouraria: Lançamento de dízimos/ofertas, conciliação e controlo de métodos digitais.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2. Passo 1: Secretaria &amp; Membresia</a:t>
            </a:r>
          </a:p>
          <a:p>
            <a:pPr>
              <a:defRPr sz="1600">
                <a:solidFill>
                  <a:srgbClr val="D97706"/>
                </a:solidFill>
                <a:latin typeface="Arial"/>
              </a:defRPr>
            </a:pPr>
            <a:r>
              <a:t>Censo fidedigno e gestão demográfica do rebanho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Registo Unificado: Fichas detalhadas com contactos, fotos, documentos e filiação.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Segmentação Inteligente: Filtros por departamentos (Homens, Senhoras, Jovens, Crianças).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Estrutura Geográfica: Acompanhamento de membros organizados por distritos, zonas e células.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Emissão Instantânea: Cartões de membro e credenciais em PDF padronizados para impressão.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3. Passo 2: Finanças Digitais Sem Custos</a:t>
            </a:r>
          </a:p>
          <a:p>
            <a:pPr>
              <a:defRPr sz="1600">
                <a:solidFill>
                  <a:srgbClr val="D97706"/>
                </a:solidFill>
                <a:latin typeface="Arial"/>
              </a:defRPr>
            </a:pPr>
            <a:r>
              <a:t>Transparência total sem dependência de APIs ou taxas intermediárias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Múltiplos Canais de Entrada: Dinheiro físico (caixa), M-Pesa, e-Mola e Contas Bancárias.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Rastreio por Código de Transação: Registo da referência de pagamento via SMS para conciliação.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Classificação Contabilística: Distribuição de receitas por dízimos, ofertas, votos e departamentos.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Comprovativos &amp; Relatórios: Emissão imediata de recibos em PDF e exportação para Excel.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4. Passo 3: Funil de Discipulado &amp; Novos Convertidos</a:t>
            </a:r>
          </a:p>
          <a:p>
            <a:pPr>
              <a:defRPr sz="1600">
                <a:solidFill>
                  <a:srgbClr val="D97706"/>
                </a:solidFill>
                <a:latin typeface="Arial"/>
              </a:defRPr>
            </a:pPr>
            <a:r>
              <a:t>Garantindo que nenhuma alma alcançada se perca no processo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Etapa 1 - Novo Decidido: Registo imediato no ato da entrega ou apelo congregacional.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Etapa 2 - Em Discipulado / Aulas: Alocação direta de obreiro responsável e formação doutrinária.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Etapa 3 - Apto para Batismo: Validação de aproveitamento bíblico pelo corpo pastoral.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Etapa 4 - Batizado: Transição automática com 1 clique para a membresia plena da congregação.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5. Passo 4: Painel Executivo SuperAdmin</a:t>
            </a:r>
          </a:p>
          <a:p>
            <a:pPr>
              <a:defRPr sz="1600">
                <a:solidFill>
                  <a:srgbClr val="D97706"/>
                </a:solidFill>
                <a:latin typeface="Arial"/>
              </a:defRPr>
            </a:pPr>
            <a:r>
              <a:t>Visão estratégica em tempo real para Convenções e Sedes Nacionais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Quadro de Comando Consolidado: Métricas de crescimento congregacional de todo o país.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Filtro Provincial e Distrital: Análise comparativa de congregações por região.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Dossiês Executivos Oficiais: Emissão instantânea de relatórios consolidados em formato PDF.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Tomada de Decisão Baseada em Dados: Alocação estratégica de obreiros e investimentos de missão.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A8A"/>
                </a:solidFill>
                <a:latin typeface="Arial"/>
              </a:defRPr>
            </a:pPr>
            <a:r>
              <a:t>6. Vantagens Estratégicas do SIGAD</a:t>
            </a:r>
          </a:p>
          <a:p>
            <a:pPr>
              <a:defRPr sz="1600">
                <a:solidFill>
                  <a:srgbClr val="D97706"/>
                </a:solidFill>
                <a:latin typeface="Arial"/>
              </a:defRPr>
            </a:pPr>
            <a:r>
              <a:t>Por que o SIGAD é a escolha ideal para o crescimento ministerial?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Independência Tecnológica: Sistema leve, funcional mesmo em ligações de baixa velocidade.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Zero Taxas Bancárias Extras: Suporte digital manual de alta eficácia com M-Pesa e e-Mola.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Padronização Administrativa: Uniformidade de relatórios e registos entre a sede e as congregações.</a:t>
            </a:r>
          </a:p>
          <a:p>
            <a:pPr>
              <a:spcBef>
                <a:spcPts val="1400"/>
              </a:spcBef>
              <a:defRPr sz="1800">
                <a:solidFill>
                  <a:srgbClr val="0F172A"/>
                </a:solidFill>
                <a:latin typeface="Arial"/>
              </a:defRPr>
            </a:pPr>
            <a:r>
              <a:t>•  Segurança de Dados: Backups seguros e controlo individualizado de permissões.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